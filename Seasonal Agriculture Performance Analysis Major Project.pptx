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5033" autoAdjust="0"/>
  </p:normalViewPr>
  <p:slideViewPr>
    <p:cSldViewPr snapToGrid="0">
      <p:cViewPr>
        <p:scale>
          <a:sx n="75" d="100"/>
          <a:sy n="75" d="100"/>
        </p:scale>
        <p:origin x="1128" y="21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9.tmp"/><Relationship Id="rId5" Type="http://schemas.openxmlformats.org/officeDocument/2006/relationships/image" Target="../media/image8.tmp"/><Relationship Id="rId4" Type="http://schemas.openxmlformats.org/officeDocument/2006/relationships/image" Target="../media/image7.tmp"/></Relationships>
</file>

<file path=ppt/slides/_rels/slide7.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3.tmp"/><Relationship Id="rId5" Type="http://schemas.openxmlformats.org/officeDocument/2006/relationships/image" Target="../media/image12.tmp"/><Relationship Id="rId4" Type="http://schemas.openxmlformats.org/officeDocument/2006/relationships/image" Target="../media/image11.tmp"/></Relationships>
</file>

<file path=ppt/slides/_rels/slide8.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7.tmp"/><Relationship Id="rId5" Type="http://schemas.openxmlformats.org/officeDocument/2006/relationships/image" Target="../media/image16.tmp"/><Relationship Id="rId4" Type="http://schemas.openxmlformats.org/officeDocument/2006/relationships/image" Target="../media/image15.tmp"/></Relationships>
</file>

<file path=ppt/slides/_rels/slide9.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20.tmp"/><Relationship Id="rId4" Type="http://schemas.openxmlformats.org/officeDocument/2006/relationships/image" Target="../media/image19.tmp"/></Relationships>
</file>

<file path=ppt/slides/_rels/slide10.xml.rels><?xml version="1.0" encoding="UTF-8" standalone="yes"?>
<Relationships xmlns="http://schemas.openxmlformats.org/package/2006/relationships"><Relationship Id="rId3" Type="http://schemas.openxmlformats.org/officeDocument/2006/relationships/image" Target="../media/image21.tmp"/><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2.tmp"/></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arthakTomar2008/Sarthak-Repository"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34787" y="3521161"/>
            <a:ext cx="5056414" cy="861497"/>
          </a:xfrm>
        </p:spPr>
        <p:txBody>
          <a:bodyPr vert="horz" lIns="91440" tIns="45720" rIns="91440" bIns="45720" rtlCol="0" anchor="t">
            <a:normAutofit/>
          </a:bodyPr>
          <a:lstStyle/>
          <a:p>
            <a:r>
              <a:rPr lang="en-US" b="0" dirty="0">
                <a:solidFill>
                  <a:schemeClr val="tx1"/>
                </a:solidFill>
              </a:rPr>
              <a:t>[Sarthak Singh Tomar </a:t>
            </a:r>
            <a:endParaRPr lang="en-IN" b="0" dirty="0">
              <a:solidFill>
                <a:schemeClr val="tx1"/>
              </a:solidFill>
            </a:endParaRPr>
          </a:p>
          <a:p>
            <a:r>
              <a:rPr lang="en-US" b="0" dirty="0">
                <a:solidFill>
                  <a:schemeClr val="tx1"/>
                </a:solidFill>
              </a:rPr>
              <a:t>Madhav Institute of Technology &amp; Science]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9977195" cy="743448"/>
          </a:xfrm>
        </p:spPr>
        <p:txBody>
          <a:bodyPr>
            <a:normAutofit fontScale="90000"/>
          </a:bodyPr>
          <a:lstStyle/>
          <a:p>
            <a:r>
              <a:rPr lang="en-GB" sz="3200" dirty="0"/>
              <a:t>Project Title – 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34787" y="4567138"/>
            <a:ext cx="4902218" cy="646331"/>
          </a:xfrm>
          <a:prstGeom prst="rect">
            <a:avLst/>
          </a:prstGeom>
          <a:noFill/>
        </p:spPr>
        <p:txBody>
          <a:bodyPr wrap="square" rtlCol="0">
            <a:spAutoFit/>
          </a:bodyPr>
          <a:lstStyle/>
          <a:p>
            <a:r>
              <a:rPr lang="en-US" b="1" dirty="0"/>
              <a:t>AICTE STU ID : (</a:t>
            </a:r>
            <a:r>
              <a:rPr lang="en-IN" dirty="0"/>
              <a:t>STU6a3910da1bf8f1782124762</a:t>
            </a:r>
            <a:r>
              <a:rPr lang="en-US" b="1" dirty="0"/>
              <a:t>)</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E542C4D3-F6B6-1404-0E84-2DC437697064}"/>
              </a:ext>
            </a:extLst>
          </p:cNvPr>
          <p:cNvSpPr txBox="1"/>
          <p:nvPr/>
        </p:nvSpPr>
        <p:spPr>
          <a:xfrm>
            <a:off x="675957" y="1981200"/>
            <a:ext cx="7675563" cy="2031325"/>
          </a:xfrm>
          <a:prstGeom prst="rect">
            <a:avLst/>
          </a:prstGeom>
          <a:noFill/>
        </p:spPr>
        <p:txBody>
          <a:bodyPr wrap="square" rtlCol="0">
            <a:spAutoFit/>
          </a:bodyPr>
          <a:lstStyle/>
          <a:p>
            <a:r>
              <a:rPr lang="en-IN" dirty="0"/>
              <a:t>Seasonal Agriculture Performance Analysis studies agricultural data across different seasons to identify trends, variations, and relationships in crop production, resource usage, environmental conditions, and economic performance. The project uses data analytics and visualization to generate insights and support better agricultural planning. </a:t>
            </a:r>
          </a:p>
          <a:p>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70000" lnSpcReduction="20000"/>
          </a:bodyPr>
          <a:lstStyle/>
          <a:p>
            <a:pPr lvl="0"/>
            <a:r>
              <a:rPr lang="en-IN" sz="3600" b="1" dirty="0"/>
              <a:t>Farmers</a:t>
            </a:r>
            <a:r>
              <a:rPr lang="en-IN" sz="3600" dirty="0"/>
              <a:t> – to understand seasonal crop and resource patterns. </a:t>
            </a:r>
          </a:p>
          <a:p>
            <a:pPr lvl="0"/>
            <a:r>
              <a:rPr lang="en-IN" sz="3600" b="1" dirty="0"/>
              <a:t>Agricultural planners</a:t>
            </a:r>
            <a:r>
              <a:rPr lang="en-IN" sz="3600" dirty="0"/>
              <a:t> – to support seasonal agricultural planning. </a:t>
            </a:r>
          </a:p>
          <a:p>
            <a:pPr lvl="0"/>
            <a:r>
              <a:rPr lang="en-IN" sz="3600" b="1" dirty="0"/>
              <a:t>Agricultural researchers</a:t>
            </a:r>
            <a:r>
              <a:rPr lang="en-IN" sz="3600" dirty="0"/>
              <a:t> – to study trends and relationships in agricultural data. </a:t>
            </a:r>
          </a:p>
          <a:p>
            <a:pPr lvl="0"/>
            <a:r>
              <a:rPr lang="en-IN" sz="3600" b="1" dirty="0"/>
              <a:t>Government/agriculture departments</a:t>
            </a:r>
            <a:r>
              <a:rPr lang="en-IN" sz="3600" dirty="0"/>
              <a:t> – to support evidence-based decisions. </a:t>
            </a:r>
          </a:p>
          <a:p>
            <a:pPr lvl="0"/>
            <a:r>
              <a:rPr lang="en-IN" sz="3600" b="1" dirty="0"/>
              <a:t>Data analysts</a:t>
            </a:r>
            <a:r>
              <a:rPr lang="en-IN" sz="3600" dirty="0"/>
              <a:t> – to </a:t>
            </a:r>
            <a:r>
              <a:rPr lang="en-IN" sz="3600" dirty="0" err="1"/>
              <a:t>analyze</a:t>
            </a:r>
            <a:r>
              <a:rPr lang="en-IN" sz="3600" dirty="0"/>
              <a:t> and interpret agricultural performance data. </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0"/>
            <a:r>
              <a:rPr lang="en-IN" b="1" dirty="0"/>
              <a:t>Python</a:t>
            </a:r>
            <a:r>
              <a:rPr lang="en-IN" dirty="0"/>
              <a:t> – Data analysis and processing </a:t>
            </a:r>
          </a:p>
          <a:p>
            <a:pPr lvl="0"/>
            <a:r>
              <a:rPr lang="en-IN" b="1" dirty="0"/>
              <a:t>Pandas &amp; NumPy</a:t>
            </a:r>
            <a:r>
              <a:rPr lang="en-IN" dirty="0"/>
              <a:t> – Data cleaning and manipulation </a:t>
            </a:r>
          </a:p>
          <a:p>
            <a:pPr lvl="0"/>
            <a:r>
              <a:rPr lang="en-IN" b="1" dirty="0"/>
              <a:t>Matplotlib &amp; Seaborn</a:t>
            </a:r>
            <a:r>
              <a:rPr lang="en-IN" dirty="0"/>
              <a:t> – Data visualization </a:t>
            </a:r>
          </a:p>
          <a:p>
            <a:pPr lvl="0"/>
            <a:r>
              <a:rPr lang="en-IN" b="1" dirty="0"/>
              <a:t>Jupyter Notebook</a:t>
            </a:r>
            <a:r>
              <a:rPr lang="en-IN" dirty="0"/>
              <a:t> – Project development and documentation </a:t>
            </a:r>
          </a:p>
          <a:p>
            <a:pPr lvl="0"/>
            <a:r>
              <a:rPr lang="en-IN" b="1" dirty="0"/>
              <a:t>Statistical Analysis</a:t>
            </a:r>
            <a:r>
              <a:rPr lang="en-IN" dirty="0"/>
              <a:t> – Identifying trends and relationships </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76E3B4E-FE49-9ABB-4A9F-4BCEBC4EB753}"/>
              </a:ext>
            </a:extLst>
          </p:cNvPr>
          <p:cNvPicPr>
            <a:picLocks noChangeAspect="1"/>
          </p:cNvPicPr>
          <p:nvPr/>
        </p:nvPicPr>
        <p:blipFill>
          <a:blip r:embed="rId3"/>
          <a:stretch>
            <a:fillRect/>
          </a:stretch>
        </p:blipFill>
        <p:spPr>
          <a:xfrm>
            <a:off x="675957" y="1275371"/>
            <a:ext cx="2351723" cy="1693536"/>
          </a:xfrm>
          <a:prstGeom prst="rect">
            <a:avLst/>
          </a:prstGeom>
        </p:spPr>
      </p:pic>
      <p:pic>
        <p:nvPicPr>
          <p:cNvPr id="9" name="Picture 8">
            <a:extLst>
              <a:ext uri="{FF2B5EF4-FFF2-40B4-BE49-F238E27FC236}">
                <a16:creationId xmlns:a16="http://schemas.microsoft.com/office/drawing/2014/main" id="{2A06A877-6741-86B4-27B6-4B5140F41021}"/>
              </a:ext>
            </a:extLst>
          </p:cNvPr>
          <p:cNvPicPr>
            <a:picLocks noChangeAspect="1"/>
          </p:cNvPicPr>
          <p:nvPr/>
        </p:nvPicPr>
        <p:blipFill>
          <a:blip r:embed="rId4"/>
          <a:stretch>
            <a:fillRect/>
          </a:stretch>
        </p:blipFill>
        <p:spPr>
          <a:xfrm>
            <a:off x="3287078" y="1275371"/>
            <a:ext cx="1693536" cy="1693536"/>
          </a:xfrm>
          <a:prstGeom prst="rect">
            <a:avLst/>
          </a:prstGeom>
        </p:spPr>
      </p:pic>
      <p:pic>
        <p:nvPicPr>
          <p:cNvPr id="11" name="Picture 10">
            <a:extLst>
              <a:ext uri="{FF2B5EF4-FFF2-40B4-BE49-F238E27FC236}">
                <a16:creationId xmlns:a16="http://schemas.microsoft.com/office/drawing/2014/main" id="{2763A6A6-8B00-58EC-F296-FDA0677669D9}"/>
              </a:ext>
            </a:extLst>
          </p:cNvPr>
          <p:cNvPicPr>
            <a:picLocks noChangeAspect="1"/>
          </p:cNvPicPr>
          <p:nvPr/>
        </p:nvPicPr>
        <p:blipFill>
          <a:blip r:embed="rId5"/>
          <a:stretch>
            <a:fillRect/>
          </a:stretch>
        </p:blipFill>
        <p:spPr>
          <a:xfrm>
            <a:off x="754247" y="3042692"/>
            <a:ext cx="2273433" cy="3557188"/>
          </a:xfrm>
          <a:prstGeom prst="rect">
            <a:avLst/>
          </a:prstGeom>
        </p:spPr>
      </p:pic>
      <p:pic>
        <p:nvPicPr>
          <p:cNvPr id="13" name="Picture 12">
            <a:extLst>
              <a:ext uri="{FF2B5EF4-FFF2-40B4-BE49-F238E27FC236}">
                <a16:creationId xmlns:a16="http://schemas.microsoft.com/office/drawing/2014/main" id="{2B451530-BD9E-3027-C667-1C53667AF086}"/>
              </a:ext>
            </a:extLst>
          </p:cNvPr>
          <p:cNvPicPr>
            <a:picLocks noChangeAspect="1"/>
          </p:cNvPicPr>
          <p:nvPr/>
        </p:nvPicPr>
        <p:blipFill>
          <a:blip r:embed="rId6"/>
          <a:stretch>
            <a:fillRect/>
          </a:stretch>
        </p:blipFill>
        <p:spPr>
          <a:xfrm>
            <a:off x="3434912" y="3203461"/>
            <a:ext cx="3091404" cy="336497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810E1867-A0F5-5C02-AEF0-FDAE8B33CE02}"/>
              </a:ext>
            </a:extLst>
          </p:cNvPr>
          <p:cNvPicPr>
            <a:picLocks noChangeAspect="1"/>
          </p:cNvPicPr>
          <p:nvPr/>
        </p:nvPicPr>
        <p:blipFill>
          <a:blip r:embed="rId3"/>
          <a:stretch>
            <a:fillRect/>
          </a:stretch>
        </p:blipFill>
        <p:spPr>
          <a:xfrm>
            <a:off x="783453" y="1201586"/>
            <a:ext cx="1717317" cy="2544789"/>
          </a:xfrm>
          <a:prstGeom prst="rect">
            <a:avLst/>
          </a:prstGeom>
        </p:spPr>
      </p:pic>
      <p:pic>
        <p:nvPicPr>
          <p:cNvPr id="12" name="Picture 11">
            <a:extLst>
              <a:ext uri="{FF2B5EF4-FFF2-40B4-BE49-F238E27FC236}">
                <a16:creationId xmlns:a16="http://schemas.microsoft.com/office/drawing/2014/main" id="{E99E72C5-60C0-9CF2-B60F-2927A67E030A}"/>
              </a:ext>
            </a:extLst>
          </p:cNvPr>
          <p:cNvPicPr>
            <a:picLocks noChangeAspect="1"/>
          </p:cNvPicPr>
          <p:nvPr/>
        </p:nvPicPr>
        <p:blipFill>
          <a:blip r:embed="rId4"/>
          <a:stretch>
            <a:fillRect/>
          </a:stretch>
        </p:blipFill>
        <p:spPr>
          <a:xfrm>
            <a:off x="2963241" y="1074511"/>
            <a:ext cx="2538924" cy="2813304"/>
          </a:xfrm>
          <a:prstGeom prst="rect">
            <a:avLst/>
          </a:prstGeom>
        </p:spPr>
      </p:pic>
      <p:pic>
        <p:nvPicPr>
          <p:cNvPr id="14" name="Picture 13">
            <a:extLst>
              <a:ext uri="{FF2B5EF4-FFF2-40B4-BE49-F238E27FC236}">
                <a16:creationId xmlns:a16="http://schemas.microsoft.com/office/drawing/2014/main" id="{D4E4A845-7A82-5F05-E3F7-55740E629BC6}"/>
              </a:ext>
            </a:extLst>
          </p:cNvPr>
          <p:cNvPicPr>
            <a:picLocks noChangeAspect="1"/>
          </p:cNvPicPr>
          <p:nvPr/>
        </p:nvPicPr>
        <p:blipFill>
          <a:blip r:embed="rId5"/>
          <a:stretch>
            <a:fillRect/>
          </a:stretch>
        </p:blipFill>
        <p:spPr>
          <a:xfrm>
            <a:off x="675957" y="4088675"/>
            <a:ext cx="2318679" cy="2318679"/>
          </a:xfrm>
          <a:prstGeom prst="rect">
            <a:avLst/>
          </a:prstGeom>
        </p:spPr>
      </p:pic>
      <p:pic>
        <p:nvPicPr>
          <p:cNvPr id="16" name="Picture 15">
            <a:extLst>
              <a:ext uri="{FF2B5EF4-FFF2-40B4-BE49-F238E27FC236}">
                <a16:creationId xmlns:a16="http://schemas.microsoft.com/office/drawing/2014/main" id="{A48F2193-98DB-4420-BCEA-0DCB21BEF237}"/>
              </a:ext>
            </a:extLst>
          </p:cNvPr>
          <p:cNvPicPr>
            <a:picLocks noChangeAspect="1"/>
          </p:cNvPicPr>
          <p:nvPr/>
        </p:nvPicPr>
        <p:blipFill>
          <a:blip r:embed="rId6"/>
          <a:stretch>
            <a:fillRect/>
          </a:stretch>
        </p:blipFill>
        <p:spPr>
          <a:xfrm>
            <a:off x="3657600" y="4172073"/>
            <a:ext cx="2081746" cy="2151882"/>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059FDD4E-A418-875A-5DD6-BE41F2BE785E}"/>
              </a:ext>
            </a:extLst>
          </p:cNvPr>
          <p:cNvPicPr>
            <a:picLocks noChangeAspect="1"/>
          </p:cNvPicPr>
          <p:nvPr/>
        </p:nvPicPr>
        <p:blipFill>
          <a:blip r:embed="rId3"/>
          <a:stretch>
            <a:fillRect/>
          </a:stretch>
        </p:blipFill>
        <p:spPr>
          <a:xfrm>
            <a:off x="960437" y="1275371"/>
            <a:ext cx="2143125" cy="2371967"/>
          </a:xfrm>
          <a:prstGeom prst="rect">
            <a:avLst/>
          </a:prstGeom>
        </p:spPr>
      </p:pic>
      <p:pic>
        <p:nvPicPr>
          <p:cNvPr id="14" name="Picture 13">
            <a:extLst>
              <a:ext uri="{FF2B5EF4-FFF2-40B4-BE49-F238E27FC236}">
                <a16:creationId xmlns:a16="http://schemas.microsoft.com/office/drawing/2014/main" id="{79DA3947-B03C-824E-EA69-D0145B1FE2F3}"/>
              </a:ext>
            </a:extLst>
          </p:cNvPr>
          <p:cNvPicPr>
            <a:picLocks noChangeAspect="1"/>
          </p:cNvPicPr>
          <p:nvPr/>
        </p:nvPicPr>
        <p:blipFill>
          <a:blip r:embed="rId4"/>
          <a:stretch>
            <a:fillRect/>
          </a:stretch>
        </p:blipFill>
        <p:spPr>
          <a:xfrm>
            <a:off x="3776133" y="1275371"/>
            <a:ext cx="2555242" cy="2280629"/>
          </a:xfrm>
          <a:prstGeom prst="rect">
            <a:avLst/>
          </a:prstGeom>
        </p:spPr>
      </p:pic>
      <p:pic>
        <p:nvPicPr>
          <p:cNvPr id="16" name="Picture 15">
            <a:extLst>
              <a:ext uri="{FF2B5EF4-FFF2-40B4-BE49-F238E27FC236}">
                <a16:creationId xmlns:a16="http://schemas.microsoft.com/office/drawing/2014/main" id="{6740C075-8AE0-7219-9DE3-735215BCC2AA}"/>
              </a:ext>
            </a:extLst>
          </p:cNvPr>
          <p:cNvPicPr>
            <a:picLocks noChangeAspect="1"/>
          </p:cNvPicPr>
          <p:nvPr/>
        </p:nvPicPr>
        <p:blipFill>
          <a:blip r:embed="rId5"/>
          <a:stretch>
            <a:fillRect/>
          </a:stretch>
        </p:blipFill>
        <p:spPr>
          <a:xfrm>
            <a:off x="960437" y="3926300"/>
            <a:ext cx="2143125" cy="2561111"/>
          </a:xfrm>
          <a:prstGeom prst="rect">
            <a:avLst/>
          </a:prstGeom>
        </p:spPr>
      </p:pic>
      <p:pic>
        <p:nvPicPr>
          <p:cNvPr id="18" name="Picture 17">
            <a:extLst>
              <a:ext uri="{FF2B5EF4-FFF2-40B4-BE49-F238E27FC236}">
                <a16:creationId xmlns:a16="http://schemas.microsoft.com/office/drawing/2014/main" id="{C423E8C2-D7C0-CC97-CE28-DEC084AF845F}"/>
              </a:ext>
            </a:extLst>
          </p:cNvPr>
          <p:cNvPicPr>
            <a:picLocks noChangeAspect="1"/>
          </p:cNvPicPr>
          <p:nvPr/>
        </p:nvPicPr>
        <p:blipFill>
          <a:blip r:embed="rId6"/>
          <a:stretch>
            <a:fillRect/>
          </a:stretch>
        </p:blipFill>
        <p:spPr>
          <a:xfrm>
            <a:off x="3776133" y="3797346"/>
            <a:ext cx="2959761" cy="2819017"/>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761BC90E-26C2-B5FF-974D-4278132635EA}"/>
              </a:ext>
            </a:extLst>
          </p:cNvPr>
          <p:cNvPicPr>
            <a:picLocks noChangeAspect="1"/>
          </p:cNvPicPr>
          <p:nvPr/>
        </p:nvPicPr>
        <p:blipFill>
          <a:blip r:embed="rId3"/>
          <a:srcRect l="-20917" t="411" r="20917" b="-411"/>
          <a:stretch>
            <a:fillRect/>
          </a:stretch>
        </p:blipFill>
        <p:spPr>
          <a:xfrm>
            <a:off x="-396249" y="1386679"/>
            <a:ext cx="5126054" cy="2471852"/>
          </a:xfrm>
          <a:prstGeom prst="rect">
            <a:avLst/>
          </a:prstGeom>
        </p:spPr>
      </p:pic>
      <p:pic>
        <p:nvPicPr>
          <p:cNvPr id="12" name="Picture 11">
            <a:extLst>
              <a:ext uri="{FF2B5EF4-FFF2-40B4-BE49-F238E27FC236}">
                <a16:creationId xmlns:a16="http://schemas.microsoft.com/office/drawing/2014/main" id="{67241678-A776-CEC3-13AD-FD81E3EB8572}"/>
              </a:ext>
            </a:extLst>
          </p:cNvPr>
          <p:cNvPicPr>
            <a:picLocks noChangeAspect="1"/>
          </p:cNvPicPr>
          <p:nvPr/>
        </p:nvPicPr>
        <p:blipFill>
          <a:blip r:embed="rId4"/>
          <a:stretch>
            <a:fillRect/>
          </a:stretch>
        </p:blipFill>
        <p:spPr>
          <a:xfrm>
            <a:off x="675957" y="4179437"/>
            <a:ext cx="3045643" cy="2215513"/>
          </a:xfrm>
          <a:prstGeom prst="rect">
            <a:avLst/>
          </a:prstGeom>
        </p:spPr>
      </p:pic>
      <p:pic>
        <p:nvPicPr>
          <p:cNvPr id="14" name="Picture 13">
            <a:extLst>
              <a:ext uri="{FF2B5EF4-FFF2-40B4-BE49-F238E27FC236}">
                <a16:creationId xmlns:a16="http://schemas.microsoft.com/office/drawing/2014/main" id="{2D8F4F0A-A035-775C-AB58-994631D85D8E}"/>
              </a:ext>
            </a:extLst>
          </p:cNvPr>
          <p:cNvPicPr>
            <a:picLocks noChangeAspect="1"/>
          </p:cNvPicPr>
          <p:nvPr/>
        </p:nvPicPr>
        <p:blipFill>
          <a:blip r:embed="rId5"/>
          <a:stretch>
            <a:fillRect/>
          </a:stretch>
        </p:blipFill>
        <p:spPr>
          <a:xfrm>
            <a:off x="4345694" y="4006973"/>
            <a:ext cx="2796761" cy="2851027"/>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01EA62C3-B8AA-2546-4E71-BFED66AB470C}"/>
              </a:ext>
            </a:extLst>
          </p:cNvPr>
          <p:cNvPicPr>
            <a:picLocks noChangeAspect="1"/>
          </p:cNvPicPr>
          <p:nvPr/>
        </p:nvPicPr>
        <p:blipFill>
          <a:blip r:embed="rId3"/>
          <a:stretch>
            <a:fillRect/>
          </a:stretch>
        </p:blipFill>
        <p:spPr>
          <a:xfrm>
            <a:off x="675957" y="1541378"/>
            <a:ext cx="3266661" cy="3775243"/>
          </a:xfrm>
          <a:prstGeom prst="rect">
            <a:avLst/>
          </a:prstGeom>
        </p:spPr>
      </p:pic>
      <p:pic>
        <p:nvPicPr>
          <p:cNvPr id="13" name="Picture 12">
            <a:extLst>
              <a:ext uri="{FF2B5EF4-FFF2-40B4-BE49-F238E27FC236}">
                <a16:creationId xmlns:a16="http://schemas.microsoft.com/office/drawing/2014/main" id="{6D8A9EFE-5241-9B92-AAEF-5FED148CFE04}"/>
              </a:ext>
            </a:extLst>
          </p:cNvPr>
          <p:cNvPicPr>
            <a:picLocks noChangeAspect="1"/>
          </p:cNvPicPr>
          <p:nvPr/>
        </p:nvPicPr>
        <p:blipFill>
          <a:blip r:embed="rId4"/>
          <a:stretch>
            <a:fillRect/>
          </a:stretch>
        </p:blipFill>
        <p:spPr>
          <a:xfrm>
            <a:off x="4147537" y="1541378"/>
            <a:ext cx="4173503" cy="3789229"/>
          </a:xfrm>
          <a:prstGeom prst="rect">
            <a:avLst/>
          </a:prstGeom>
        </p:spPr>
      </p:pic>
      <p:sp>
        <p:nvSpPr>
          <p:cNvPr id="14" name="TextBox 13">
            <a:extLst>
              <a:ext uri="{FF2B5EF4-FFF2-40B4-BE49-F238E27FC236}">
                <a16:creationId xmlns:a16="http://schemas.microsoft.com/office/drawing/2014/main" id="{56132796-072C-9B9B-4F12-B9F08CB258FD}"/>
              </a:ext>
            </a:extLst>
          </p:cNvPr>
          <p:cNvSpPr txBox="1"/>
          <p:nvPr/>
        </p:nvSpPr>
        <p:spPr>
          <a:xfrm>
            <a:off x="6425708" y="5358087"/>
            <a:ext cx="3576320" cy="477054"/>
          </a:xfrm>
          <a:prstGeom prst="rect">
            <a:avLst/>
          </a:prstGeom>
          <a:noFill/>
        </p:spPr>
        <p:txBody>
          <a:bodyPr wrap="square" rtlCol="0">
            <a:spAutoFit/>
          </a:bodyPr>
          <a:lstStyle/>
          <a:p>
            <a:r>
              <a:rPr lang="en-IN" sz="2500" dirty="0"/>
              <a:t>And More…..</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D5A1F644-05F1-B11E-3EF0-7A6DAD0487D9}"/>
              </a:ext>
            </a:extLst>
          </p:cNvPr>
          <p:cNvSpPr txBox="1"/>
          <p:nvPr/>
        </p:nvSpPr>
        <p:spPr>
          <a:xfrm>
            <a:off x="675957" y="1941449"/>
            <a:ext cx="7152640" cy="3139321"/>
          </a:xfrm>
          <a:prstGeom prst="rect">
            <a:avLst/>
          </a:prstGeom>
          <a:noFill/>
        </p:spPr>
        <p:txBody>
          <a:bodyPr wrap="square" rtlCol="0">
            <a:spAutoFit/>
          </a:bodyPr>
          <a:lstStyle/>
          <a:p>
            <a:pPr marL="285750" lvl="0" indent="-285750">
              <a:buFont typeface="Arial" panose="020B0604020202020204" pitchFamily="34" charset="0"/>
              <a:buChar char="•"/>
            </a:pPr>
            <a:r>
              <a:rPr lang="en-IN" dirty="0"/>
              <a:t>Develop </a:t>
            </a:r>
            <a:r>
              <a:rPr lang="en-IN" b="1" dirty="0"/>
              <a:t>predictive models</a:t>
            </a:r>
            <a:r>
              <a:rPr lang="en-IN" dirty="0"/>
              <a:t> to forecast seasonal agricultural performance. </a:t>
            </a:r>
          </a:p>
          <a:p>
            <a:pPr marL="285750" lvl="0" indent="-285750">
              <a:buFont typeface="Arial" panose="020B0604020202020204" pitchFamily="34" charset="0"/>
              <a:buChar char="•"/>
            </a:pPr>
            <a:r>
              <a:rPr lang="en-IN" dirty="0"/>
              <a:t>Use </a:t>
            </a:r>
            <a:r>
              <a:rPr lang="en-IN" b="1" dirty="0"/>
              <a:t>real-time weather and environmental data</a:t>
            </a:r>
            <a:r>
              <a:rPr lang="en-IN" dirty="0"/>
              <a:t> for better analysis. </a:t>
            </a:r>
          </a:p>
          <a:p>
            <a:pPr marL="285750" lvl="0" indent="-285750">
              <a:buFont typeface="Arial" panose="020B0604020202020204" pitchFamily="34" charset="0"/>
              <a:buChar char="•"/>
            </a:pPr>
            <a:r>
              <a:rPr lang="en-IN" dirty="0"/>
              <a:t>Build an </a:t>
            </a:r>
            <a:r>
              <a:rPr lang="en-IN" b="1" dirty="0"/>
              <a:t>interactive dashboard</a:t>
            </a:r>
            <a:r>
              <a:rPr lang="en-IN" dirty="0"/>
              <a:t> for farmers and agricultural planners. </a:t>
            </a:r>
          </a:p>
          <a:p>
            <a:pPr marL="285750" lvl="0" indent="-285750">
              <a:buFont typeface="Arial" panose="020B0604020202020204" pitchFamily="34" charset="0"/>
              <a:buChar char="•"/>
            </a:pPr>
            <a:r>
              <a:rPr lang="en-IN" dirty="0"/>
              <a:t>Expand the analysis to include </a:t>
            </a:r>
            <a:r>
              <a:rPr lang="en-IN" b="1" dirty="0"/>
              <a:t>more regions, crops, and seasons</a:t>
            </a:r>
            <a:r>
              <a:rPr lang="en-IN" dirty="0"/>
              <a:t>. </a:t>
            </a:r>
          </a:p>
          <a:p>
            <a:pPr marL="285750" lvl="0" indent="-285750">
              <a:buFont typeface="Arial" panose="020B0604020202020204" pitchFamily="34" charset="0"/>
              <a:buChar char="•"/>
            </a:pPr>
            <a:r>
              <a:rPr lang="en-IN" dirty="0"/>
              <a:t>Use advanced analytics to provide </a:t>
            </a:r>
            <a:r>
              <a:rPr lang="en-IN" b="1" dirty="0"/>
              <a:t>data-driven recommendations for crop planning</a:t>
            </a:r>
            <a:r>
              <a:rPr lang="en-IN" dirty="0"/>
              <a:t>. </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275371"/>
            <a:ext cx="7232875" cy="369332"/>
          </a:xfrm>
          <a:prstGeom prst="rect">
            <a:avLst/>
          </a:prstGeom>
          <a:noFill/>
        </p:spPr>
        <p:txBody>
          <a:bodyPr wrap="square">
            <a:spAutoFit/>
          </a:bodyPr>
          <a:lstStyle/>
          <a:p>
            <a:r>
              <a:rPr lang="en-US" dirty="0">
                <a:hlinkClick r:id="rId3"/>
              </a:rPr>
              <a:t>https://github.com/SarthakTomar2008/Sarthak-Repository</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24C795DC-5125-BA3A-4F28-F608DFE9D09F}"/>
              </a:ext>
            </a:extLst>
          </p:cNvPr>
          <p:cNvPicPr>
            <a:picLocks noChangeAspect="1"/>
          </p:cNvPicPr>
          <p:nvPr/>
        </p:nvPicPr>
        <p:blipFill>
          <a:blip r:embed="rId3"/>
          <a:stretch>
            <a:fillRect/>
          </a:stretch>
        </p:blipFill>
        <p:spPr>
          <a:xfrm>
            <a:off x="1921483" y="2153629"/>
            <a:ext cx="4848421" cy="342900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16492" y="2545370"/>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purl.org/dc/elements/1.1/"/>
    <ds:schemaRef ds:uri="http://www.w3.org/XML/1998/namespace"/>
    <ds:schemaRef ds:uri="http://schemas.microsoft.com/office/2006/documentManagement/types"/>
    <ds:schemaRef ds:uri="http://schemas.openxmlformats.org/package/2006/metadata/core-properties"/>
    <ds:schemaRef ds:uri="http://schemas.microsoft.com/office/infopath/2007/PartnerControls"/>
    <ds:schemaRef ds:uri="16c05727-aa75-4e4a-9b5f-8a80a1165891"/>
    <ds:schemaRef ds:uri="71af3243-3dd4-4a8d-8c0d-dd76da1f02a5"/>
    <ds:schemaRef ds:uri="http://schemas.microsoft.com/office/2006/metadata/properties"/>
    <ds:schemaRef ds:uri="http://purl.org/dc/dcmitype/"/>
    <ds:schemaRef ds:uri="http://purl.org/dc/te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1387</TotalTime>
  <Words>354</Words>
  <Application>Microsoft Office PowerPoint</Application>
  <PresentationFormat>Widescreen</PresentationFormat>
  <Paragraphs>39</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Sarthak Tomar</cp:lastModifiedBy>
  <cp:revision>100</cp:revision>
  <dcterms:created xsi:type="dcterms:W3CDTF">2021-07-11T13:13:15Z</dcterms:created>
  <dcterms:modified xsi:type="dcterms:W3CDTF">2026-09-08T05:19:00Z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